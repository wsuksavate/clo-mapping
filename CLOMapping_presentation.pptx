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65" r:id="rId7"/>
    <p:sldId id="268" r:id="rId8"/>
    <p:sldId id="272" r:id="rId9"/>
    <p:sldId id="266" r:id="rId10"/>
    <p:sldId id="269" r:id="rId11"/>
    <p:sldId id="270" r:id="rId12"/>
    <p:sldId id="262" r:id="rId13"/>
    <p:sldId id="261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09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8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68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9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4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9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4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5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6DD6-6D41-467E-A204-F18958FA5758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3E2C1-D640-4B1A-944E-F257BD246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4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5.em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3" y="0"/>
            <a:ext cx="11972355" cy="68870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th-TH" sz="7200" b="1" dirty="0" smtClean="0">
                <a:solidFill>
                  <a:schemeClr val="accent2">
                    <a:lumMod val="50000"/>
                  </a:schemeClr>
                </a:solidFill>
              </a:rPr>
              <a:t>การวัดและประเมินการบรรลุ </a:t>
            </a:r>
            <a:r>
              <a:rPr lang="en-US" sz="7200" b="1" dirty="0" smtClean="0">
                <a:solidFill>
                  <a:schemeClr val="accent2">
                    <a:lumMod val="50000"/>
                  </a:schemeClr>
                </a:solidFill>
              </a:rPr>
              <a:t>CLOs </a:t>
            </a:r>
            <a:br>
              <a:rPr lang="en-US" sz="7200" b="1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th-TH" sz="7200" b="1" dirty="0" smtClean="0">
                <a:solidFill>
                  <a:schemeClr val="accent2">
                    <a:lumMod val="50000"/>
                  </a:schemeClr>
                </a:solidFill>
              </a:rPr>
              <a:t>ของรายวิชา</a:t>
            </a:r>
            <a:endParaRPr lang="en-US" sz="7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h-TH" sz="5000" b="1" dirty="0" smtClean="0">
                <a:solidFill>
                  <a:schemeClr val="accent2">
                    <a:lumMod val="50000"/>
                  </a:schemeClr>
                </a:solidFill>
              </a:rPr>
              <a:t>ภาควิชาชีววิทยาป่าไม้ คณะวนศาสตร์</a:t>
            </a:r>
          </a:p>
          <a:p>
            <a:r>
              <a:rPr lang="th-TH" sz="5000" b="1" dirty="0" smtClean="0">
                <a:solidFill>
                  <a:schemeClr val="accent2">
                    <a:lumMod val="50000"/>
                  </a:schemeClr>
                </a:solidFill>
              </a:rPr>
              <a:t>มหาวิทยาลัยเกษตรศาสตร์</a:t>
            </a:r>
            <a:endParaRPr lang="en-US" sz="5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19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Connecting the unconnected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81386"/>
            <a:ext cx="10515600" cy="2257066"/>
          </a:xfrm>
        </p:spPr>
        <p:txBody>
          <a:bodyPr>
            <a:normAutofit fontScale="92500" lnSpcReduction="10000"/>
          </a:bodyPr>
          <a:lstStyle/>
          <a:p>
            <a:r>
              <a:rPr lang="th-TH" dirty="0" smtClean="0"/>
              <a:t>ไม่เพิ่มภาระให้อาจารย์ประจำวิชา หรือเพิ่มน้อยที่สุดเท่าที่จะเป็นไปได้</a:t>
            </a:r>
          </a:p>
          <a:p>
            <a:r>
              <a:rPr lang="th-TH" dirty="0"/>
              <a:t>อาจารย์ผู้รับผิดชอบหลักสูตร ไม่จำเป็นต้องทราบข้อมูลการให้คะแนนนิสิตในแต่ละ</a:t>
            </a:r>
            <a:r>
              <a:rPr lang="th-TH" dirty="0" smtClean="0"/>
              <a:t>รายวิชา</a:t>
            </a:r>
            <a:r>
              <a:rPr lang="en-US" dirty="0" smtClean="0"/>
              <a:t> </a:t>
            </a:r>
            <a:r>
              <a:rPr lang="th-TH" dirty="0" smtClean="0"/>
              <a:t>(ใช้แค่ข้อมูลเกรด)</a:t>
            </a:r>
            <a:endParaRPr lang="en-US" dirty="0" smtClean="0"/>
          </a:p>
          <a:p>
            <a:r>
              <a:rPr lang="th-TH" dirty="0" smtClean="0"/>
              <a:t>สามารถใช้ในการบรรลุ </a:t>
            </a:r>
            <a:r>
              <a:rPr lang="en-US" dirty="0" smtClean="0"/>
              <a:t>PLO </a:t>
            </a:r>
            <a:r>
              <a:rPr lang="th-TH" dirty="0" smtClean="0"/>
              <a:t>ของนิสิตได้</a:t>
            </a:r>
            <a:endParaRPr lang="en-US" dirty="0" smtClean="0"/>
          </a:p>
          <a:p>
            <a:r>
              <a:rPr lang="th-TH" dirty="0" smtClean="0"/>
              <a:t>สามารถใช้ประเมินความสำคัญของแต่ละรายวิชาในแต่ละ </a:t>
            </a:r>
            <a:r>
              <a:rPr lang="en-US" dirty="0" smtClean="0"/>
              <a:t>PLO </a:t>
            </a:r>
            <a:r>
              <a:rPr lang="th-TH" dirty="0" smtClean="0"/>
              <a:t>ได้</a:t>
            </a:r>
          </a:p>
          <a:p>
            <a:r>
              <a:rPr lang="th-TH" dirty="0" smtClean="0"/>
              <a:t>สามารถใช้ประเมินน้ำหนักของแต่ละ </a:t>
            </a:r>
            <a:r>
              <a:rPr lang="en-US" dirty="0" smtClean="0"/>
              <a:t>PLO </a:t>
            </a:r>
            <a:r>
              <a:rPr lang="th-TH" dirty="0" smtClean="0"/>
              <a:t>ของตัวหลักสูตรได้</a:t>
            </a:r>
          </a:p>
        </p:txBody>
      </p:sp>
      <p:sp>
        <p:nvSpPr>
          <p:cNvPr id="4" name="Oval 3"/>
          <p:cNvSpPr/>
          <p:nvPr/>
        </p:nvSpPr>
        <p:spPr>
          <a:xfrm>
            <a:off x="7652552" y="1465259"/>
            <a:ext cx="3444536" cy="27609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smtClean="0"/>
              <a:t>PLOs</a:t>
            </a:r>
          </a:p>
          <a:p>
            <a:pPr algn="ctr"/>
            <a:r>
              <a:rPr lang="en-US" sz="2500" dirty="0" smtClean="0"/>
              <a:t>CLOs</a:t>
            </a:r>
            <a:endParaRPr lang="en-US" sz="2500" dirty="0"/>
          </a:p>
        </p:txBody>
      </p:sp>
      <p:sp>
        <p:nvSpPr>
          <p:cNvPr id="5" name="Oval 4"/>
          <p:cNvSpPr/>
          <p:nvPr/>
        </p:nvSpPr>
        <p:spPr>
          <a:xfrm>
            <a:off x="1086774" y="1745858"/>
            <a:ext cx="4621567" cy="219975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smtClean="0"/>
          </a:p>
          <a:p>
            <a:pPr algn="ctr"/>
            <a:r>
              <a:rPr lang="en-US" sz="2000" dirty="0" smtClean="0"/>
              <a:t>15 weeks course</a:t>
            </a:r>
          </a:p>
          <a:p>
            <a:pPr algn="ctr"/>
            <a:r>
              <a:rPr lang="en-US" sz="2000" dirty="0" smtClean="0"/>
              <a:t>0% - 100% scoring system</a:t>
            </a:r>
          </a:p>
          <a:p>
            <a:pPr algn="ctr"/>
            <a:r>
              <a:rPr lang="en-US" sz="2000" dirty="0" smtClean="0"/>
              <a:t>A B C grading system</a:t>
            </a:r>
          </a:p>
          <a:p>
            <a:pPr marL="285750" indent="-285750" algn="ctr">
              <a:buFontTx/>
              <a:buChar char="-"/>
            </a:pPr>
            <a:endParaRPr lang="en-US" sz="2000" dirty="0"/>
          </a:p>
        </p:txBody>
      </p:sp>
      <p:sp>
        <p:nvSpPr>
          <p:cNvPr id="6" name="Left-Right Arrow 5"/>
          <p:cNvSpPr/>
          <p:nvPr/>
        </p:nvSpPr>
        <p:spPr>
          <a:xfrm>
            <a:off x="5805995" y="2503947"/>
            <a:ext cx="1748901" cy="683580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8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Assessment/Activities to CLOs mapping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3890"/>
            <a:ext cx="9870287" cy="503062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335480" y="1690688"/>
            <a:ext cx="2424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โครงสร้างภายในรายวิชา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1077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50" y="516113"/>
            <a:ext cx="1543010" cy="11140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12" y="1938020"/>
            <a:ext cx="1543010" cy="111406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260" y="1938020"/>
            <a:ext cx="1543010" cy="11140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617" y="3422071"/>
            <a:ext cx="1543010" cy="11140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765" y="3796413"/>
            <a:ext cx="1543010" cy="111406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12" y="4843978"/>
            <a:ext cx="1543010" cy="111406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578" y="5386637"/>
            <a:ext cx="1543010" cy="11140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360" y="453969"/>
            <a:ext cx="1543010" cy="1114060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>
            <a:off x="5971343" y="2837625"/>
            <a:ext cx="1518821" cy="73684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864137" y="720301"/>
            <a:ext cx="2216459" cy="498037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/>
              <a:t>Program Learning Outcome</a:t>
            </a:r>
          </a:p>
          <a:p>
            <a:pPr algn="ctr"/>
            <a:r>
              <a:rPr lang="en-US" sz="2600" b="1" dirty="0" smtClean="0"/>
              <a:t>(PLO)</a:t>
            </a:r>
          </a:p>
          <a:p>
            <a:pPr algn="ctr"/>
            <a:r>
              <a:rPr lang="th-TH" sz="2600" b="1" dirty="0" smtClean="0"/>
              <a:t>หลักสูตร</a:t>
            </a:r>
          </a:p>
          <a:p>
            <a:pPr algn="ctr"/>
            <a:endParaRPr lang="en-US" sz="2600" b="1" dirty="0"/>
          </a:p>
          <a:p>
            <a:pPr algn="ctr"/>
            <a:r>
              <a:rPr lang="en-US" sz="2600" b="1" dirty="0" smtClean="0"/>
              <a:t>PLO1</a:t>
            </a:r>
          </a:p>
          <a:p>
            <a:pPr algn="ctr"/>
            <a:r>
              <a:rPr lang="en-US" sz="2600" b="1" dirty="0" smtClean="0"/>
              <a:t>PLO2</a:t>
            </a:r>
          </a:p>
          <a:p>
            <a:pPr algn="ctr"/>
            <a:r>
              <a:rPr lang="en-US" sz="2600" b="1" dirty="0" smtClean="0"/>
              <a:t>PLO3</a:t>
            </a:r>
          </a:p>
          <a:p>
            <a:pPr algn="ctr"/>
            <a:r>
              <a:rPr lang="en-US" sz="2600" b="1" dirty="0" smtClean="0"/>
              <a:t>PLO4</a:t>
            </a:r>
          </a:p>
          <a:p>
            <a:pPr algn="ctr"/>
            <a:r>
              <a:rPr lang="en-US" sz="2600" b="1" dirty="0" smtClean="0"/>
              <a:t>PLO5</a:t>
            </a:r>
          </a:p>
          <a:p>
            <a:pPr algn="ctr"/>
            <a:endParaRPr lang="th-TH" sz="2600" b="1" dirty="0" smtClean="0"/>
          </a:p>
        </p:txBody>
      </p:sp>
    </p:spTree>
    <p:extLst>
      <p:ext uri="{BB962C8B-B14F-4D97-AF65-F5344CB8AC3E}">
        <p14:creationId xmlns:p14="http://schemas.microsoft.com/office/powerpoint/2010/main" val="3795621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สิ่งที่อาจารย์ผู้รับผิดชอบรายวิชาต้องระบุเพิ่ม</a:t>
            </a:r>
            <a:r>
              <a:rPr lang="en-US" dirty="0" smtClean="0"/>
              <a:t> </a:t>
            </a:r>
            <a:r>
              <a:rPr lang="th-TH" dirty="0" smtClean="0"/>
              <a:t>(แบบที่ 1)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[CLO map]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588905"/>
              </p:ext>
            </p:extLst>
          </p:nvPr>
        </p:nvGraphicFramePr>
        <p:xfrm>
          <a:off x="838200" y="1825625"/>
          <a:ext cx="9735106" cy="3627120"/>
        </p:xfrm>
        <a:graphic>
          <a:graphicData uri="http://schemas.openxmlformats.org/drawingml/2006/table">
            <a:tbl>
              <a:tblPr firstRow="1" bandRow="1">
                <a:solidFill>
                  <a:schemeClr val="accent6">
                    <a:lumMod val="60000"/>
                    <a:lumOff val="40000"/>
                  </a:schemeClr>
                </a:solidFill>
                <a:tableStyleId>{21E4AEA4-8DFA-4A89-87EB-49C32662AFE0}</a:tableStyleId>
              </a:tblPr>
              <a:tblGrid>
                <a:gridCol w="3381223"/>
                <a:gridCol w="2158341"/>
                <a:gridCol w="1398514"/>
                <a:gridCol w="1398514"/>
                <a:gridCol w="13985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การวัดผล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คะแนน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CLO1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CLO2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CLO3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การบ้าน 1 2 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15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การบ้าน 4 5 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15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สอบกลางภาค</a:t>
                      </a:r>
                      <a:r>
                        <a:rPr lang="th-TH" sz="2800" baseline="0" dirty="0" smtClean="0"/>
                        <a:t> (ส่วนที่ 1)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15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800" dirty="0" smtClean="0"/>
                        <a:t>สอบกลางภาค</a:t>
                      </a:r>
                      <a:r>
                        <a:rPr lang="th-TH" sz="2800" baseline="0" dirty="0" smtClean="0"/>
                        <a:t> (ส่วนที่ 2)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15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นำเสนอการค้นคว้า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20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สอบปลายภาค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20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52225" y="1464816"/>
            <a:ext cx="4722921" cy="43678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84401" y="6311900"/>
            <a:ext cx="41965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Data files = \@data\</a:t>
            </a:r>
            <a:r>
              <a:rPr lang="en-US" dirty="0" err="1" smtClean="0"/>
              <a:t>clomap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52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สิ่งที่อาจารย์ผู้รับผิดชอบรายวิชาต้องระบุเพิ่ม</a:t>
            </a:r>
            <a:r>
              <a:rPr lang="en-US" dirty="0" smtClean="0"/>
              <a:t> </a:t>
            </a:r>
            <a:r>
              <a:rPr lang="th-TH" dirty="0" smtClean="0"/>
              <a:t>(แบบที่ 2)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[CLO map]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1265460"/>
              </p:ext>
            </p:extLst>
          </p:nvPr>
        </p:nvGraphicFramePr>
        <p:xfrm>
          <a:off x="838200" y="1825625"/>
          <a:ext cx="9735106" cy="4053840"/>
        </p:xfrm>
        <a:graphic>
          <a:graphicData uri="http://schemas.openxmlformats.org/drawingml/2006/table">
            <a:tbl>
              <a:tblPr firstRow="1" bandRow="1">
                <a:solidFill>
                  <a:schemeClr val="accent6">
                    <a:lumMod val="60000"/>
                    <a:lumOff val="40000"/>
                  </a:schemeClr>
                </a:solidFill>
                <a:tableStyleId>{21E4AEA4-8DFA-4A89-87EB-49C32662AFE0}</a:tableStyleId>
              </a:tblPr>
              <a:tblGrid>
                <a:gridCol w="3381223"/>
                <a:gridCol w="2158341"/>
                <a:gridCol w="1398514"/>
                <a:gridCol w="1398514"/>
                <a:gridCol w="13985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กิจกรรมการเรียน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น้ำหนัก (ทางเลือก)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CLO1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CLO2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CLO3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สัปดาห์ที่ 1 - 2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-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สัปดาห์ที่ 3</a:t>
                      </a:r>
                      <a:r>
                        <a:rPr lang="th-TH" sz="2800" baseline="0" dirty="0" smtClean="0"/>
                        <a:t> - 4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-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สัปดาห์ที่ 5</a:t>
                      </a:r>
                      <a:r>
                        <a:rPr lang="th-TH" sz="2800" baseline="0" dirty="0" smtClean="0"/>
                        <a:t> - 6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-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สัปดาห์ที่ 6</a:t>
                      </a:r>
                      <a:r>
                        <a:rPr lang="th-TH" sz="2800" baseline="0" dirty="0" smtClean="0"/>
                        <a:t> - 8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-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สัปดาห์ที่ 9</a:t>
                      </a:r>
                      <a:r>
                        <a:rPr lang="th-TH" sz="2800" baseline="0" dirty="0" smtClean="0"/>
                        <a:t> - 12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-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h-TH" sz="2800" dirty="0" smtClean="0"/>
                        <a:t>สัปดาห์ที่ 13</a:t>
                      </a:r>
                      <a:r>
                        <a:rPr lang="th-TH" sz="2800" baseline="0" dirty="0" smtClean="0"/>
                        <a:t> - 15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800" dirty="0" smtClean="0"/>
                        <a:t>-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012707" y="1589102"/>
            <a:ext cx="6862439" cy="44565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84401" y="6311900"/>
            <a:ext cx="41965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Data files = \@data\</a:t>
            </a:r>
            <a:r>
              <a:rPr lang="en-US" dirty="0" err="1" smtClean="0"/>
              <a:t>clomap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062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 to PLOs mapping</a:t>
            </a:r>
            <a:br>
              <a:rPr lang="en-US" dirty="0" smtClean="0"/>
            </a:br>
            <a:r>
              <a:rPr lang="en-US" dirty="0" smtClean="0"/>
              <a:t>[PLO map]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05" y="1690688"/>
            <a:ext cx="10316589" cy="49986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56759" y="1204159"/>
            <a:ext cx="41965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Data files = \@</a:t>
            </a:r>
            <a:r>
              <a:rPr lang="en-US" dirty="0"/>
              <a:t>data\</a:t>
            </a:r>
            <a:r>
              <a:rPr lang="en-US" dirty="0" err="1"/>
              <a:t>plomap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39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834501" y="399495"/>
            <a:ext cx="9916357" cy="294738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02671" y="1166906"/>
            <a:ext cx="2485748" cy="138098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smtClean="0"/>
              <a:t>Course</a:t>
            </a:r>
          </a:p>
          <a:p>
            <a:pPr algn="ctr"/>
            <a:r>
              <a:rPr lang="en-US" sz="3000" dirty="0" smtClean="0"/>
              <a:t>CLO map</a:t>
            </a:r>
            <a:endParaRPr lang="en-US" sz="3000" dirty="0"/>
          </a:p>
        </p:txBody>
      </p:sp>
      <p:sp>
        <p:nvSpPr>
          <p:cNvPr id="6" name="Rectangle 5"/>
          <p:cNvSpPr/>
          <p:nvPr/>
        </p:nvSpPr>
        <p:spPr>
          <a:xfrm>
            <a:off x="4546846" y="1166906"/>
            <a:ext cx="2485748" cy="1380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smtClean="0"/>
              <a:t>Course</a:t>
            </a:r>
          </a:p>
          <a:p>
            <a:pPr algn="ctr"/>
            <a:r>
              <a:rPr lang="en-US" sz="3000" dirty="0" smtClean="0"/>
              <a:t>PLO map</a:t>
            </a:r>
            <a:endParaRPr lang="en-US" sz="3000" dirty="0"/>
          </a:p>
        </p:txBody>
      </p:sp>
      <p:sp>
        <p:nvSpPr>
          <p:cNvPr id="7" name="Rectangle 6"/>
          <p:cNvSpPr/>
          <p:nvPr/>
        </p:nvSpPr>
        <p:spPr>
          <a:xfrm>
            <a:off x="7691021" y="1166906"/>
            <a:ext cx="2485748" cy="1380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smtClean="0"/>
              <a:t>Credits</a:t>
            </a:r>
            <a:endParaRPr 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5126718" y="459020"/>
            <a:ext cx="15311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Inputs</a:t>
            </a:r>
            <a:endParaRPr lang="en-US" sz="4000" b="1" dirty="0"/>
          </a:p>
        </p:txBody>
      </p:sp>
      <p:sp>
        <p:nvSpPr>
          <p:cNvPr id="10" name="Down Arrow 9"/>
          <p:cNvSpPr/>
          <p:nvPr/>
        </p:nvSpPr>
        <p:spPr>
          <a:xfrm>
            <a:off x="5026240" y="3533313"/>
            <a:ext cx="1526959" cy="134940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46846" y="5069149"/>
            <a:ext cx="2485748" cy="13809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smtClean="0"/>
              <a:t>Outputs</a:t>
            </a:r>
            <a:endParaRPr lang="en-US" sz="3000" dirty="0"/>
          </a:p>
        </p:txBody>
      </p:sp>
      <p:sp>
        <p:nvSpPr>
          <p:cNvPr id="12" name="Rectangle 11"/>
          <p:cNvSpPr/>
          <p:nvPr/>
        </p:nvSpPr>
        <p:spPr>
          <a:xfrm>
            <a:off x="8267144" y="2178560"/>
            <a:ext cx="1909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credits\credits.csv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584458" y="628297"/>
            <a:ext cx="896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@data\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983384" y="2271776"/>
            <a:ext cx="989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clomap</a:t>
            </a:r>
            <a:r>
              <a:rPr lang="en-US" dirty="0" smtClean="0"/>
              <a:t>\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127559" y="2258006"/>
            <a:ext cx="987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</a:t>
            </a:r>
            <a:r>
              <a:rPr lang="en-US" dirty="0" err="1" smtClean="0"/>
              <a:t>lomap</a:t>
            </a:r>
            <a:r>
              <a:rPr lang="en-US" dirty="0" smtClean="0"/>
              <a:t>\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875724" y="6080803"/>
            <a:ext cx="1122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@output\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82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PLOs score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Output files = </a:t>
            </a:r>
            <a:r>
              <a:rPr lang="en-US" dirty="0" smtClean="0"/>
              <a:t>plo_scores.csv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Course’s total score = credit/100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06" y="2401272"/>
            <a:ext cx="8599550" cy="30408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97477" y="2831977"/>
            <a:ext cx="7164280" cy="41725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97477" y="4600112"/>
            <a:ext cx="7164280" cy="8420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9187643" y="2401272"/>
            <a:ext cx="888512" cy="6393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8841" y="2072194"/>
            <a:ext cx="186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Sum to 100</a:t>
            </a:r>
            <a:endParaRPr 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026447" y="4471764"/>
            <a:ext cx="19279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/>
              <a:t>PLOs</a:t>
            </a:r>
            <a:br>
              <a:rPr lang="en-US" sz="2800" b="1" dirty="0" smtClean="0"/>
            </a:br>
            <a:r>
              <a:rPr lang="en-US" sz="2800" b="1" dirty="0" smtClean="0"/>
              <a:t>distribution</a:t>
            </a:r>
            <a:endParaRPr lang="en-US" sz="2800" b="1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9187711" y="5021129"/>
            <a:ext cx="888444" cy="2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997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PLOs score contributions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files = plo_contributions.csv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58" y="2521260"/>
            <a:ext cx="10379084" cy="263385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36669" y="2521260"/>
            <a:ext cx="1713389" cy="2633858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426036" y="5155118"/>
            <a:ext cx="551161" cy="8034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45050" y="5915353"/>
            <a:ext cx="186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Sum to 100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972001" y="5302890"/>
            <a:ext cx="252517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Based on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Sharing PLOs</a:t>
            </a:r>
          </a:p>
          <a:p>
            <a:pPr marL="457200" indent="-457200">
              <a:buFontTx/>
              <a:buChar char="-"/>
            </a:pPr>
            <a:r>
              <a:rPr lang="en-US" sz="2800" dirty="0" smtClean="0"/>
              <a:t>Credit score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5805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weight on PLO??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410610"/>
              </p:ext>
            </p:extLst>
          </p:nvPr>
        </p:nvGraphicFramePr>
        <p:xfrm>
          <a:off x="838200" y="1825625"/>
          <a:ext cx="10515600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Grade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Weight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1.00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B+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0.75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B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0.50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C+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0.25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&lt;= C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0.00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375269" y="5157927"/>
            <a:ext cx="744146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500" b="1" dirty="0" smtClean="0"/>
              <a:t>อาจารย์ผู้รับผิดชอบหลักสูตรจะต้องกำหนดค่าน้ำหนักของคะแนนที่เหมาะสม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735335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การประเมินการบรรลุ </a:t>
            </a:r>
            <a:r>
              <a:rPr lang="en-US" dirty="0" smtClean="0"/>
              <a:t>PLOs </a:t>
            </a:r>
            <a:r>
              <a:rPr lang="th-TH" dirty="0" smtClean="0"/>
              <a:t>ของนิสิต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15" y="2508162"/>
            <a:ext cx="2880000" cy="1920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93" r="13973"/>
          <a:stretch/>
        </p:blipFill>
        <p:spPr>
          <a:xfrm>
            <a:off x="9012243" y="4635461"/>
            <a:ext cx="1864312" cy="1920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4" r="14756"/>
          <a:stretch/>
        </p:blipFill>
        <p:spPr>
          <a:xfrm>
            <a:off x="8670495" y="601323"/>
            <a:ext cx="1882066" cy="1920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814" y="4321533"/>
            <a:ext cx="5535967" cy="2233928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V="1">
            <a:off x="6939823" y="2325950"/>
            <a:ext cx="2274917" cy="32695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939823" y="3782090"/>
            <a:ext cx="2754593" cy="20603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3" idx="1"/>
          </p:cNvCxnSpPr>
          <p:nvPr/>
        </p:nvCxnSpPr>
        <p:spPr>
          <a:xfrm flipV="1">
            <a:off x="6939823" y="5595461"/>
            <a:ext cx="2072420" cy="8053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098" y="1685303"/>
            <a:ext cx="3193737" cy="1545240"/>
          </a:xfrm>
          <a:prstGeom prst="rect">
            <a:avLst/>
          </a:prstGeom>
        </p:spPr>
      </p:pic>
      <p:sp>
        <p:nvSpPr>
          <p:cNvPr id="32" name="Down Arrow 31"/>
          <p:cNvSpPr/>
          <p:nvPr/>
        </p:nvSpPr>
        <p:spPr>
          <a:xfrm>
            <a:off x="3489061" y="3524393"/>
            <a:ext cx="1072351" cy="65975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lus 32"/>
          <p:cNvSpPr/>
          <p:nvPr/>
        </p:nvSpPr>
        <p:spPr>
          <a:xfrm>
            <a:off x="3653229" y="2087004"/>
            <a:ext cx="744014" cy="658974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1637" y="1725659"/>
            <a:ext cx="3907322" cy="13816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94294" y="3942021"/>
            <a:ext cx="2215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score_student_61.csv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704" y="1335889"/>
            <a:ext cx="1599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student_61.csv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7243" y="1345225"/>
            <a:ext cx="1532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plo_scores.csv</a:t>
            </a:r>
          </a:p>
        </p:txBody>
      </p:sp>
    </p:spTree>
    <p:extLst>
      <p:ext uri="{BB962C8B-B14F-4D97-AF65-F5344CB8AC3E}">
        <p14:creationId xmlns:p14="http://schemas.microsoft.com/office/powerpoint/2010/main" val="121128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แนวคิด / ข้อจำกัด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8184"/>
            <a:ext cx="10515600" cy="5139598"/>
          </a:xfrm>
        </p:spPr>
        <p:txBody>
          <a:bodyPr>
            <a:normAutofit/>
          </a:bodyPr>
          <a:lstStyle/>
          <a:p>
            <a:r>
              <a:rPr lang="th-TH" dirty="0"/>
              <a:t>การวัดผลโดยใช้ระบบ</a:t>
            </a:r>
            <a:r>
              <a:rPr lang="th-TH" dirty="0" smtClean="0"/>
              <a:t>เกรด</a:t>
            </a:r>
            <a:endParaRPr lang="th-TH" dirty="0"/>
          </a:p>
          <a:p>
            <a:pPr lvl="1"/>
            <a:r>
              <a:rPr lang="th-TH" dirty="0"/>
              <a:t>ผู้สอนมีความคุ้นเคยอยู่แล้ว</a:t>
            </a:r>
          </a:p>
          <a:p>
            <a:pPr lvl="1"/>
            <a:r>
              <a:rPr lang="th-TH" dirty="0"/>
              <a:t>วัดผลแบบอิงเกณฑ์ (เท่านั้น)</a:t>
            </a:r>
          </a:p>
          <a:p>
            <a:pPr lvl="1"/>
            <a:r>
              <a:rPr lang="th-TH" dirty="0"/>
              <a:t>ให้เกรดตามจริง ตามผลลัพธ์ที่นิสิตสามารถทำได้</a:t>
            </a:r>
          </a:p>
          <a:p>
            <a:pPr lvl="1"/>
            <a:r>
              <a:rPr lang="th-TH" dirty="0"/>
              <a:t>มีความแตกต่างระหว่าง</a:t>
            </a:r>
            <a:r>
              <a:rPr lang="th-TH" dirty="0" smtClean="0"/>
              <a:t>นิสิต</a:t>
            </a:r>
          </a:p>
          <a:p>
            <a:r>
              <a:rPr lang="th-TH" dirty="0" smtClean="0"/>
              <a:t>ไม่จำเป็นต้องรับทุก </a:t>
            </a:r>
            <a:r>
              <a:rPr lang="en-US" dirty="0" smtClean="0"/>
              <a:t>PLO </a:t>
            </a:r>
            <a:r>
              <a:rPr lang="th-TH" dirty="0" smtClean="0"/>
              <a:t>(รับเฉพาะที่ได้ทำจริงๆ)</a:t>
            </a:r>
          </a:p>
          <a:p>
            <a:pPr lvl="1"/>
            <a:r>
              <a:rPr lang="th-TH" dirty="0" smtClean="0"/>
              <a:t>รับ </a:t>
            </a:r>
            <a:r>
              <a:rPr lang="en-US" dirty="0" smtClean="0"/>
              <a:t>PLO </a:t>
            </a:r>
            <a:r>
              <a:rPr lang="th-TH" dirty="0" smtClean="0"/>
              <a:t>มาก คะแนนก็จะถูกเจือจางมาก (</a:t>
            </a:r>
            <a:r>
              <a:rPr lang="en-US" dirty="0" smtClean="0"/>
              <a:t>PLO </a:t>
            </a:r>
            <a:r>
              <a:rPr lang="th-TH" dirty="0" smtClean="0"/>
              <a:t>มากกว่า </a:t>
            </a:r>
            <a:r>
              <a:rPr lang="th-TH" dirty="0" smtClean="0">
                <a:latin typeface="Times New Roman" panose="02020603050405020304" pitchFamily="18" charset="0"/>
              </a:rPr>
              <a:t>≠ ดีกว่า</a:t>
            </a:r>
            <a:r>
              <a:rPr lang="th-TH" dirty="0" smtClean="0"/>
              <a:t>)</a:t>
            </a:r>
            <a:endParaRPr lang="en-US" dirty="0" smtClean="0"/>
          </a:p>
          <a:p>
            <a:pPr lvl="1"/>
            <a:r>
              <a:rPr lang="th-TH" dirty="0" smtClean="0"/>
              <a:t>น้ำหนักแต่ละวิชา เป็นไปตามหน่วยการเรียน</a:t>
            </a:r>
          </a:p>
          <a:p>
            <a:pPr lvl="1"/>
            <a:r>
              <a:rPr lang="th-TH" dirty="0" smtClean="0"/>
              <a:t>น้ำหนักที่มีส่วนช่วย </a:t>
            </a:r>
            <a:r>
              <a:rPr lang="en-US" dirty="0" smtClean="0"/>
              <a:t>PLO </a:t>
            </a:r>
            <a:r>
              <a:rPr lang="th-TH" dirty="0" smtClean="0"/>
              <a:t>ตามหน่วยการเรียน และสัดส่วนของคะแนนวัดผล</a:t>
            </a:r>
          </a:p>
          <a:p>
            <a:r>
              <a:rPr lang="th-TH" dirty="0" smtClean="0"/>
              <a:t>ต้องหาจุดอ้างอิงที่เหมาะสม เพื่อวัดผลการบรรลุ </a:t>
            </a:r>
            <a:r>
              <a:rPr lang="en-US" dirty="0" smtClean="0"/>
              <a:t>PLO</a:t>
            </a:r>
            <a:r>
              <a:rPr lang="th-TH" dirty="0" smtClean="0"/>
              <a:t> ของนิสิต</a:t>
            </a:r>
          </a:p>
          <a:p>
            <a:pPr lvl="1"/>
            <a:r>
              <a:rPr lang="th-TH" dirty="0" smtClean="0"/>
              <a:t>เช่น เปรียบเทียบกับนิสิตสมมุติ ที่ลงทะเบียนครบทุกวิชาที่เปิดสอนในแต่ละสาขา และได้เกรด </a:t>
            </a:r>
            <a:r>
              <a:rPr lang="en-US" dirty="0" smtClean="0"/>
              <a:t>A </a:t>
            </a:r>
            <a:r>
              <a:rPr lang="th-TH" dirty="0" smtClean="0"/>
              <a:t>ทุก</a:t>
            </a:r>
            <a:r>
              <a:rPr lang="th-TH" dirty="0" smtClean="0"/>
              <a:t>วิชา</a:t>
            </a:r>
          </a:p>
          <a:p>
            <a:pPr lvl="1"/>
            <a:r>
              <a:rPr lang="th-TH" dirty="0" smtClean="0"/>
              <a:t>หาจุด </a:t>
            </a:r>
            <a:r>
              <a:rPr lang="en-US" dirty="0" smtClean="0"/>
              <a:t>cutoff </a:t>
            </a:r>
            <a:r>
              <a:rPr lang="th-TH" dirty="0" smtClean="0"/>
              <a:t>ผ่าน/ไม่ผ่าน เช่น ทำได้ร้อยละ 70 ของนิสิตสมมุติ</a:t>
            </a:r>
            <a:endParaRPr lang="th-TH" dirty="0" smtClean="0"/>
          </a:p>
        </p:txBody>
      </p:sp>
    </p:spTree>
    <p:extLst>
      <p:ext uri="{BB962C8B-B14F-4D97-AF65-F5344CB8AC3E}">
        <p14:creationId xmlns:p14="http://schemas.microsoft.com/office/powerpoint/2010/main" val="4186922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สิ่งที่อาจารย์ประจำวิชาต้องทำเพิ่ม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/>
              <a:t>สร้างตารางเชื่อมโยงระหว่าง เนื้อหาหรือการวัดผล  กับ  </a:t>
            </a:r>
            <a:r>
              <a:rPr lang="en-US" dirty="0" smtClean="0"/>
              <a:t>CLO </a:t>
            </a:r>
            <a:r>
              <a:rPr lang="th-TH" dirty="0" smtClean="0"/>
              <a:t>รายวิชา (ระบุลงใน </a:t>
            </a:r>
            <a:r>
              <a:rPr lang="en-US" dirty="0" smtClean="0"/>
              <a:t>syllabus</a:t>
            </a:r>
            <a:r>
              <a:rPr lang="th-TH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27" y="3461835"/>
            <a:ext cx="5357537" cy="23530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188" y="3461835"/>
            <a:ext cx="5746812" cy="2515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84404" y="2592280"/>
            <a:ext cx="1984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 smtClean="0"/>
              <a:t>แบบที่ 1</a:t>
            </a:r>
          </a:p>
          <a:p>
            <a:pPr algn="ctr"/>
            <a:r>
              <a:rPr lang="th-TH" dirty="0" smtClean="0"/>
              <a:t>เชื่อมโยงการวัดผล กับ </a:t>
            </a:r>
            <a:r>
              <a:rPr lang="en-US" dirty="0" smtClean="0"/>
              <a:t>CLO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40919" y="2592279"/>
            <a:ext cx="1755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 smtClean="0"/>
              <a:t>แบบที่ </a:t>
            </a:r>
            <a:r>
              <a:rPr lang="en-US" b="1" dirty="0" smtClean="0"/>
              <a:t>2</a:t>
            </a:r>
            <a:endParaRPr lang="th-TH" b="1" dirty="0" smtClean="0"/>
          </a:p>
          <a:p>
            <a:pPr algn="ctr"/>
            <a:r>
              <a:rPr lang="th-TH" dirty="0" smtClean="0"/>
              <a:t>เชื่อมโยงเนื้อหากับ </a:t>
            </a:r>
            <a:r>
              <a:rPr lang="en-US" dirty="0" smtClean="0"/>
              <a:t>CLO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17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2404</TotalTime>
  <Words>550</Words>
  <Application>Microsoft Office PowerPoint</Application>
  <PresentationFormat>Widescreen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Angsana New</vt:lpstr>
      <vt:lpstr>Arial</vt:lpstr>
      <vt:lpstr>Calibri</vt:lpstr>
      <vt:lpstr>Calibri Light</vt:lpstr>
      <vt:lpstr>Cordia New</vt:lpstr>
      <vt:lpstr>Times New Roman</vt:lpstr>
      <vt:lpstr>Office Theme</vt:lpstr>
      <vt:lpstr>การวัดและประเมินการบรรลุ CLOs  ของรายวิชา</vt:lpstr>
      <vt:lpstr>Connecting the unconnected</vt:lpstr>
      <vt:lpstr>Assessment/Activities to CLOs mapping</vt:lpstr>
      <vt:lpstr>PowerPoint Presentation</vt:lpstr>
      <vt:lpstr>สิ่งที่อาจารย์ผู้รับผิดชอบรายวิชาต้องระบุเพิ่ม (แบบที่ 1) [CLO map]</vt:lpstr>
      <vt:lpstr>สิ่งที่อาจารย์ผู้รับผิดชอบรายวิชาต้องระบุเพิ่ม (แบบที่ 2) [CLO map]</vt:lpstr>
      <vt:lpstr>CLOs to PLOs mapping [PLO map]</vt:lpstr>
      <vt:lpstr>PowerPoint Presentation</vt:lpstr>
      <vt:lpstr>Course PLOs score distribution</vt:lpstr>
      <vt:lpstr>Course PLOs score contributions</vt:lpstr>
      <vt:lpstr>Grading weight on PLO??</vt:lpstr>
      <vt:lpstr>การประเมินการบรรลุ PLOs ของนิสิต</vt:lpstr>
      <vt:lpstr>แนวคิด / ข้อจำกัด</vt:lpstr>
      <vt:lpstr>สิ่งที่อาจารย์ประจำวิชาต้องทำเพิ่ม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warong suksavate</dc:creator>
  <cp:lastModifiedBy>warong suksavate</cp:lastModifiedBy>
  <cp:revision>52</cp:revision>
  <dcterms:created xsi:type="dcterms:W3CDTF">2023-11-23T17:35:54Z</dcterms:created>
  <dcterms:modified xsi:type="dcterms:W3CDTF">2024-01-06T08:33:46Z</dcterms:modified>
</cp:coreProperties>
</file>