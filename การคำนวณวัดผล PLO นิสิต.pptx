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21253-9E55-D0AC-BA6F-B329CF1FE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66C524-A998-32E2-464F-58CE3E7214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74F31-3518-D815-2F84-6DEBA6F7D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8E23-E46A-404A-AB8B-27AFC4722CDD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A141C-805E-1E8D-E37E-A46479A8C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A2BD0-0E14-BDE5-D2B4-6A415A696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D4461-951F-4F6F-8488-E3782FDA8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162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692ED-12C5-054C-6FD3-835B87C88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F2FB7-DF1B-B10E-A8AE-98F5EA55A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E6811-12E5-A839-97A5-4B16517CE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8E23-E46A-404A-AB8B-27AFC4722CDD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69C60-2263-8287-DEF1-A2DCA3316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07B35-73E6-84AE-92A3-58EAD2ADB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D4461-951F-4F6F-8488-E3782FDA8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958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29DC6-EA50-9102-6DF8-D468D911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99DF54-EB3C-46CF-0DD3-84EB04BDF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61886-754F-8CE0-200D-631A6DFA3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8E23-E46A-404A-AB8B-27AFC4722CDD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D98B3-C262-1687-ECF8-2F6CCE41F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30869-0A16-E8D7-259F-D370119E7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D4461-951F-4F6F-8488-E3782FDA8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527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F28E1-B3FD-19E8-0891-EDD397D17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D43B7-C7E7-E8E2-50AE-1A3742C2BC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EC720F-81AF-C553-E5AA-FF8EC00C10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323764-0FF3-AE37-5A01-4B9536FB2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8E23-E46A-404A-AB8B-27AFC4722CDD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3E687C-1C31-5510-333B-23046BBDE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E97EF4-E983-BE91-C2D2-1EDE729D7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D4461-951F-4F6F-8488-E3782FDA8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713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CCB35-6043-216D-0B14-1D8E328ED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DB69A8-EB70-6727-4279-4ECC0BD76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8F7247-EF3F-D6B9-F985-7FCD979B84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24973B-F70A-7DC7-062C-F9EE1E5DB9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4532BD-8E47-ED44-6FF7-7A16FA232A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4303EB-E184-5844-24F9-252AD2C16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8E23-E46A-404A-AB8B-27AFC4722CDD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615067-A0A9-6676-57AF-BE123419F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8781F4-D1DC-1647-1650-35B568CAF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D4461-951F-4F6F-8488-E3782FDA8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150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87903-C627-267B-3C6E-DBB7A86FE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6BFE2A-F9AD-E8AB-B601-4840A89E3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8E23-E46A-404A-AB8B-27AFC4722CDD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EEDE72-220E-8757-09B7-C8B4C78D7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FAB942-1DC1-14F2-8D9A-CA32791F1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D4461-951F-4F6F-8488-E3782FDA8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163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B4D4BD-D9C1-5C51-A3A8-D6F590345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8E23-E46A-404A-AB8B-27AFC4722CDD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E4B8B1-551E-BED5-2F6E-A90EDA991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445C20-395F-7EE1-D64B-BD61C7B59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D4461-951F-4F6F-8488-E3782FDA8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506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8F6DB-F3B3-1C9F-C440-7A3FAFECA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652A2-BB40-AE5F-D5B3-AF7C490D0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91971C-43A0-E7EE-4544-77AD39BA3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BDE73F-70B1-52CC-8FB8-3EB42E120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8E23-E46A-404A-AB8B-27AFC4722CDD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1682CD-29B1-7E2A-561E-EC8AD26B3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FF074-0A59-8B51-851C-E72150896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D4461-951F-4F6F-8488-E3782FDA8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159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EE4E9-2532-FEDD-7C92-598A517CC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530243-6C34-F0BC-BAC8-CC99CF8C24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A7BD28-C816-A999-C266-2FF7B3AAE3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321267-9EF8-16DB-8411-9DBFAF17D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8E23-E46A-404A-AB8B-27AFC4722CDD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C99DA4-2A46-3CCB-B584-B0E553861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F64F1-176D-CD23-EA58-11773CAF7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D4461-951F-4F6F-8488-E3782FDA8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354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94948-6485-5FFF-5095-E7B6DB3F9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E00F23-F86D-5DDD-8331-0155352512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61D10-F7E8-AE4F-1110-EBE24C39D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8E23-E46A-404A-AB8B-27AFC4722CDD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084E8-41E9-C037-5E2E-53CC7625C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8BAB5-C07C-C3C4-1FA7-67898F6A2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D4461-951F-4F6F-8488-E3782FDA8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023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446B93-92FF-3112-9854-E8EEDE69CD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3120F3-645B-B549-C8BB-EB1A20D4B5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4CA4B-2580-5612-9B2D-BA44C85CF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8E23-E46A-404A-AB8B-27AFC4722CDD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21DCE-C18C-83CB-803D-36F631770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868E8-D9DF-FCCD-4321-6AB6444D8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D4461-951F-4F6F-8488-E3782FDA8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53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4ED115-906D-68B7-5537-786E93C2A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2C58BB-0B88-62AE-A007-1309E4A11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1C9CE-685D-E7DF-BA5D-391AB5CA2C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D08E23-E46A-404A-AB8B-27AFC4722CDD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82821-23C9-DE6E-8709-824B3BE84D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7CF1D-3D3D-8B71-8440-806A7C391D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D4461-951F-4F6F-8488-E3782FDA8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392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404CF-A99B-4555-3B64-2906618F4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1" y="144710"/>
            <a:ext cx="10515600" cy="1325563"/>
          </a:xfrm>
        </p:spPr>
        <p:txBody>
          <a:bodyPr/>
          <a:lstStyle/>
          <a:p>
            <a:r>
              <a:rPr lang="th-TH" dirty="0"/>
              <a:t>การคำนวณวัดผล </a:t>
            </a:r>
            <a:r>
              <a:rPr lang="en-US" dirty="0"/>
              <a:t>PLO </a:t>
            </a:r>
            <a:r>
              <a:rPr lang="th-TH" dirty="0"/>
              <a:t>นิสิต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8F35E94-D1DF-5464-A8AB-BF6D07232E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730099"/>
              </p:ext>
            </p:extLst>
          </p:nvPr>
        </p:nvGraphicFramePr>
        <p:xfrm>
          <a:off x="415412" y="2274570"/>
          <a:ext cx="4830917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90131">
                  <a:extLst>
                    <a:ext uri="{9D8B030D-6E8A-4147-A177-3AD203B41FA5}">
                      <a16:colId xmlns:a16="http://schemas.microsoft.com/office/drawing/2014/main" val="3102615458"/>
                    </a:ext>
                  </a:extLst>
                </a:gridCol>
                <a:gridCol w="690131">
                  <a:extLst>
                    <a:ext uri="{9D8B030D-6E8A-4147-A177-3AD203B41FA5}">
                      <a16:colId xmlns:a16="http://schemas.microsoft.com/office/drawing/2014/main" val="141241660"/>
                    </a:ext>
                  </a:extLst>
                </a:gridCol>
                <a:gridCol w="690131">
                  <a:extLst>
                    <a:ext uri="{9D8B030D-6E8A-4147-A177-3AD203B41FA5}">
                      <a16:colId xmlns:a16="http://schemas.microsoft.com/office/drawing/2014/main" val="670605658"/>
                    </a:ext>
                  </a:extLst>
                </a:gridCol>
                <a:gridCol w="690131">
                  <a:extLst>
                    <a:ext uri="{9D8B030D-6E8A-4147-A177-3AD203B41FA5}">
                      <a16:colId xmlns:a16="http://schemas.microsoft.com/office/drawing/2014/main" val="821235024"/>
                    </a:ext>
                  </a:extLst>
                </a:gridCol>
                <a:gridCol w="690131">
                  <a:extLst>
                    <a:ext uri="{9D8B030D-6E8A-4147-A177-3AD203B41FA5}">
                      <a16:colId xmlns:a16="http://schemas.microsoft.com/office/drawing/2014/main" val="2997378538"/>
                    </a:ext>
                  </a:extLst>
                </a:gridCol>
                <a:gridCol w="690131">
                  <a:extLst>
                    <a:ext uri="{9D8B030D-6E8A-4147-A177-3AD203B41FA5}">
                      <a16:colId xmlns:a16="http://schemas.microsoft.com/office/drawing/2014/main" val="392035015"/>
                    </a:ext>
                  </a:extLst>
                </a:gridCol>
                <a:gridCol w="690131">
                  <a:extLst>
                    <a:ext uri="{9D8B030D-6E8A-4147-A177-3AD203B41FA5}">
                      <a16:colId xmlns:a16="http://schemas.microsoft.com/office/drawing/2014/main" val="39847260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th-TH" dirty="0"/>
                        <a:t>วิชา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PLO1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PLO2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PLO3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PLO4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PLO5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62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C01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6112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C02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596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786407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A67B94A-0EE2-FF7B-0625-1520AD6F285F}"/>
              </a:ext>
            </a:extLst>
          </p:cNvPr>
          <p:cNvSpPr txBox="1"/>
          <p:nvPr/>
        </p:nvSpPr>
        <p:spPr>
          <a:xfrm>
            <a:off x="452284" y="1367522"/>
            <a:ext cx="48857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/>
              <a:t>จากตาราง </a:t>
            </a:r>
            <a:r>
              <a:rPr lang="en-US" dirty="0"/>
              <a:t>PLO scores </a:t>
            </a:r>
            <a:r>
              <a:rPr lang="th-TH" dirty="0"/>
              <a:t>ของจำนวนหน่วยกิตของแต่ละวิชา</a:t>
            </a:r>
            <a:br>
              <a:rPr lang="en-US" dirty="0"/>
            </a:br>
            <a:r>
              <a:rPr lang="th-TH" dirty="0"/>
              <a:t>หลังจาก </a:t>
            </a:r>
            <a:r>
              <a:rPr lang="en-US" dirty="0"/>
              <a:t>mapping </a:t>
            </a:r>
            <a:r>
              <a:rPr lang="th-TH" dirty="0"/>
              <a:t>จาก </a:t>
            </a:r>
            <a:r>
              <a:rPr lang="en-US" dirty="0"/>
              <a:t>CLO</a:t>
            </a:r>
            <a:r>
              <a:rPr lang="th-TH" dirty="0"/>
              <a:t> (หรือกิจกรรมของรายวิชา)</a:t>
            </a:r>
            <a:r>
              <a:rPr lang="en-US" dirty="0"/>
              <a:t> </a:t>
            </a:r>
            <a:r>
              <a:rPr lang="th-TH" dirty="0"/>
              <a:t>ไป </a:t>
            </a:r>
            <a:r>
              <a:rPr lang="en-US" dirty="0"/>
              <a:t>PLO </a:t>
            </a:r>
            <a:r>
              <a:rPr lang="th-TH" dirty="0"/>
              <a:t>แล้ว</a:t>
            </a:r>
          </a:p>
          <a:p>
            <a:r>
              <a:rPr lang="th-TH" dirty="0">
                <a:solidFill>
                  <a:srgbClr val="FF0000"/>
                </a:solidFill>
              </a:rPr>
              <a:t>(ตัวอักษรสีแดงคือวิชาที่นำไปใช้คิด </a:t>
            </a:r>
            <a:r>
              <a:rPr lang="en-US" dirty="0">
                <a:solidFill>
                  <a:srgbClr val="FF0000"/>
                </a:solidFill>
              </a:rPr>
              <a:t>PLO </a:t>
            </a:r>
            <a:r>
              <a:rPr lang="th-TH" dirty="0">
                <a:solidFill>
                  <a:srgbClr val="FF0000"/>
                </a:solidFill>
              </a:rPr>
              <a:t>ของนิสิต </a:t>
            </a:r>
            <a:r>
              <a:rPr lang="en-US" dirty="0">
                <a:solidFill>
                  <a:srgbClr val="FF0000"/>
                </a:solidFill>
              </a:rPr>
              <a:t>Ref</a:t>
            </a:r>
            <a:r>
              <a:rPr lang="th-TH" dirty="0">
                <a:solidFill>
                  <a:srgbClr val="FF0000"/>
                </a:solidFill>
              </a:rPr>
              <a:t>)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4473F4E-1400-CED0-468B-B68D13A5F4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403036"/>
              </p:ext>
            </p:extLst>
          </p:nvPr>
        </p:nvGraphicFramePr>
        <p:xfrm>
          <a:off x="580103" y="4366919"/>
          <a:ext cx="3991897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4456">
                  <a:extLst>
                    <a:ext uri="{9D8B030D-6E8A-4147-A177-3AD203B41FA5}">
                      <a16:colId xmlns:a16="http://schemas.microsoft.com/office/drawing/2014/main" val="3102615458"/>
                    </a:ext>
                  </a:extLst>
                </a:gridCol>
                <a:gridCol w="1039147">
                  <a:extLst>
                    <a:ext uri="{9D8B030D-6E8A-4147-A177-3AD203B41FA5}">
                      <a16:colId xmlns:a16="http://schemas.microsoft.com/office/drawing/2014/main" val="141241660"/>
                    </a:ext>
                  </a:extLst>
                </a:gridCol>
                <a:gridCol w="1039147">
                  <a:extLst>
                    <a:ext uri="{9D8B030D-6E8A-4147-A177-3AD203B41FA5}">
                      <a16:colId xmlns:a16="http://schemas.microsoft.com/office/drawing/2014/main" val="670605658"/>
                    </a:ext>
                  </a:extLst>
                </a:gridCol>
                <a:gridCol w="1039147">
                  <a:extLst>
                    <a:ext uri="{9D8B030D-6E8A-4147-A177-3AD203B41FA5}">
                      <a16:colId xmlns:a16="http://schemas.microsoft.com/office/drawing/2014/main" val="8212350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th-TH" dirty="0"/>
                        <a:t>นิสิต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62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Ref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6112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h-TH" dirty="0"/>
                        <a:t>นิสิต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596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h-TH" dirty="0"/>
                        <a:t>นิสิต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786407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C518CB6-7AB6-2029-CBAF-1A0E97E02862}"/>
              </a:ext>
            </a:extLst>
          </p:cNvPr>
          <p:cNvSpPr txBox="1"/>
          <p:nvPr/>
        </p:nvSpPr>
        <p:spPr>
          <a:xfrm>
            <a:off x="5591227" y="0"/>
            <a:ext cx="6502451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000" b="1" u="sng" dirty="0"/>
              <a:t>คะแนนนิสิต </a:t>
            </a:r>
            <a:r>
              <a:rPr lang="en-US" sz="2000" b="1" u="sng" dirty="0"/>
              <a:t>Ref</a:t>
            </a:r>
          </a:p>
          <a:p>
            <a:r>
              <a:rPr lang="th-TH" sz="2000" dirty="0"/>
              <a:t>ได้ </a:t>
            </a:r>
            <a:r>
              <a:rPr lang="en-US" sz="2000" dirty="0"/>
              <a:t>A </a:t>
            </a:r>
            <a:r>
              <a:rPr lang="th-TH" sz="2000" dirty="0"/>
              <a:t>วิชา </a:t>
            </a:r>
            <a:r>
              <a:rPr lang="en-US" sz="2000" dirty="0">
                <a:solidFill>
                  <a:srgbClr val="0070C0"/>
                </a:solidFill>
              </a:rPr>
              <a:t>C01</a:t>
            </a:r>
            <a:r>
              <a:rPr lang="en-US" sz="2000" dirty="0"/>
              <a:t> </a:t>
            </a:r>
            <a:r>
              <a:rPr lang="th-TH" sz="2000" dirty="0"/>
              <a:t>และ </a:t>
            </a:r>
            <a:r>
              <a:rPr lang="en-US" sz="2000" dirty="0">
                <a:solidFill>
                  <a:srgbClr val="00B050"/>
                </a:solidFill>
              </a:rPr>
              <a:t>C02</a:t>
            </a:r>
          </a:p>
          <a:p>
            <a:r>
              <a:rPr lang="th-TH" sz="2000" dirty="0"/>
              <a:t>จึงได้ตัวคูณเท่ากับ </a:t>
            </a:r>
            <a:r>
              <a:rPr lang="en-US" sz="2000" dirty="0"/>
              <a:t>1.0 </a:t>
            </a:r>
            <a:r>
              <a:rPr lang="th-TH" sz="2000" dirty="0"/>
              <a:t>ทั้ง </a:t>
            </a:r>
            <a:r>
              <a:rPr lang="en-US" sz="2000" dirty="0"/>
              <a:t>2 </a:t>
            </a:r>
            <a:r>
              <a:rPr lang="th-TH" sz="2000" dirty="0"/>
              <a:t>วิชา</a:t>
            </a:r>
            <a:endParaRPr lang="en-US" sz="2000" dirty="0"/>
          </a:p>
          <a:p>
            <a:r>
              <a:rPr lang="th-TH" sz="2000" dirty="0"/>
              <a:t>ได้คะแนน</a:t>
            </a:r>
            <a:br>
              <a:rPr lang="en-US" sz="2000" dirty="0"/>
            </a:br>
            <a:r>
              <a:rPr lang="en-US" sz="2000" dirty="0"/>
              <a:t>PLO1: </a:t>
            </a:r>
            <a:r>
              <a:rPr lang="en-US" sz="2000" dirty="0">
                <a:solidFill>
                  <a:srgbClr val="0070C0"/>
                </a:solidFill>
              </a:rPr>
              <a:t>100 x 1.0 </a:t>
            </a:r>
            <a:r>
              <a:rPr lang="en-US" sz="2000" dirty="0"/>
              <a:t>= </a:t>
            </a:r>
            <a:r>
              <a:rPr lang="en-US" sz="2000" dirty="0">
                <a:solidFill>
                  <a:srgbClr val="FF0000"/>
                </a:solidFill>
              </a:rPr>
              <a:t>100</a:t>
            </a:r>
          </a:p>
          <a:p>
            <a:r>
              <a:rPr lang="en-US" sz="2000" dirty="0"/>
              <a:t>PLO2: </a:t>
            </a:r>
            <a:r>
              <a:rPr lang="en-US" sz="2000" dirty="0">
                <a:solidFill>
                  <a:srgbClr val="0070C0"/>
                </a:solidFill>
              </a:rPr>
              <a:t>100 x 1.0 </a:t>
            </a:r>
            <a:r>
              <a:rPr lang="en-US" sz="2000" dirty="0"/>
              <a:t>= </a:t>
            </a:r>
            <a:r>
              <a:rPr lang="en-US" sz="2000" dirty="0">
                <a:solidFill>
                  <a:srgbClr val="FF0000"/>
                </a:solidFill>
              </a:rPr>
              <a:t>100</a:t>
            </a:r>
          </a:p>
          <a:p>
            <a:r>
              <a:rPr lang="en-US" sz="2000" dirty="0"/>
              <a:t>PLO3: </a:t>
            </a:r>
            <a:r>
              <a:rPr lang="en-US" sz="2000" dirty="0">
                <a:solidFill>
                  <a:srgbClr val="0070C0"/>
                </a:solidFill>
              </a:rPr>
              <a:t>50 x 1.0 </a:t>
            </a:r>
            <a:r>
              <a:rPr lang="en-US" sz="2000" dirty="0"/>
              <a:t>= </a:t>
            </a:r>
            <a:r>
              <a:rPr lang="en-US" sz="2000" dirty="0">
                <a:solidFill>
                  <a:srgbClr val="FF0000"/>
                </a:solidFill>
              </a:rPr>
              <a:t>50</a:t>
            </a:r>
          </a:p>
          <a:p>
            <a:r>
              <a:rPr lang="en-US" sz="2000" dirty="0"/>
              <a:t>PLO4: </a:t>
            </a:r>
            <a:r>
              <a:rPr lang="en-US" sz="2000" dirty="0">
                <a:solidFill>
                  <a:srgbClr val="0070C0"/>
                </a:solidFill>
              </a:rPr>
              <a:t>50 x 1.0 </a:t>
            </a:r>
            <a:r>
              <a:rPr lang="en-US" sz="2000" dirty="0"/>
              <a:t>+ </a:t>
            </a:r>
            <a:r>
              <a:rPr lang="en-US" sz="2000" dirty="0">
                <a:solidFill>
                  <a:srgbClr val="00B050"/>
                </a:solidFill>
              </a:rPr>
              <a:t>100 x 1.0 </a:t>
            </a:r>
            <a:r>
              <a:rPr lang="en-US" sz="2000" dirty="0"/>
              <a:t>= </a:t>
            </a:r>
            <a:r>
              <a:rPr lang="en-US" sz="2000" dirty="0">
                <a:solidFill>
                  <a:srgbClr val="FF0000"/>
                </a:solidFill>
              </a:rPr>
              <a:t>150</a:t>
            </a:r>
          </a:p>
          <a:p>
            <a:r>
              <a:rPr lang="en-US" sz="2000" dirty="0"/>
              <a:t>PLO5: </a:t>
            </a:r>
            <a:r>
              <a:rPr lang="en-US" sz="2000" dirty="0">
                <a:solidFill>
                  <a:srgbClr val="00B050"/>
                </a:solidFill>
              </a:rPr>
              <a:t>300 x 1.0 </a:t>
            </a:r>
            <a:r>
              <a:rPr lang="en-US" sz="2000" dirty="0"/>
              <a:t>= </a:t>
            </a:r>
            <a:r>
              <a:rPr lang="en-US" sz="2000" dirty="0">
                <a:solidFill>
                  <a:srgbClr val="FF0000"/>
                </a:solidFill>
              </a:rPr>
              <a:t>300</a:t>
            </a:r>
          </a:p>
          <a:p>
            <a:r>
              <a:rPr lang="th-TH" sz="2000" b="1" u="sng" dirty="0"/>
              <a:t>คะแนนนิสิต 1</a:t>
            </a:r>
          </a:p>
          <a:p>
            <a:r>
              <a:rPr lang="th-TH" sz="2000" dirty="0"/>
              <a:t>ได้ </a:t>
            </a:r>
            <a:r>
              <a:rPr lang="en-US" sz="2000" dirty="0"/>
              <a:t>A </a:t>
            </a:r>
            <a:r>
              <a:rPr lang="th-TH" sz="2000" dirty="0"/>
              <a:t>วิชา </a:t>
            </a:r>
            <a:r>
              <a:rPr lang="en-US" sz="2000" dirty="0">
                <a:solidFill>
                  <a:srgbClr val="0070C0"/>
                </a:solidFill>
              </a:rPr>
              <a:t>C01 </a:t>
            </a:r>
            <a:r>
              <a:rPr lang="th-TH" sz="2000" dirty="0"/>
              <a:t>ได้ตัวคูณเท่ากับ </a:t>
            </a:r>
            <a:r>
              <a:rPr lang="en-US" sz="2000" dirty="0"/>
              <a:t>1.0</a:t>
            </a:r>
            <a:endParaRPr lang="th-TH" sz="2000" dirty="0"/>
          </a:p>
          <a:p>
            <a:r>
              <a:rPr lang="th-TH" sz="2000" dirty="0"/>
              <a:t>ได้ </a:t>
            </a:r>
            <a:r>
              <a:rPr lang="en-US" sz="2000" dirty="0"/>
              <a:t>B+ </a:t>
            </a:r>
            <a:r>
              <a:rPr lang="th-TH" sz="2000" dirty="0"/>
              <a:t>วิชา </a:t>
            </a:r>
            <a:r>
              <a:rPr lang="en-US" sz="2000" dirty="0">
                <a:solidFill>
                  <a:srgbClr val="00B050"/>
                </a:solidFill>
              </a:rPr>
              <a:t>C02 </a:t>
            </a:r>
            <a:r>
              <a:rPr lang="th-TH" sz="2000" dirty="0"/>
              <a:t>ได้ตัวคูณเท่ากับ</a:t>
            </a:r>
            <a:r>
              <a:rPr lang="en-US" sz="2000" dirty="0"/>
              <a:t> 0.75	</a:t>
            </a:r>
          </a:p>
          <a:p>
            <a:r>
              <a:rPr lang="en-US" sz="2000" dirty="0"/>
              <a:t>PLO1: </a:t>
            </a:r>
            <a:r>
              <a:rPr lang="en-US" sz="2000" dirty="0">
                <a:solidFill>
                  <a:srgbClr val="0070C0"/>
                </a:solidFill>
              </a:rPr>
              <a:t>100 x 1.0 </a:t>
            </a:r>
            <a:r>
              <a:rPr lang="en-US" sz="2000" dirty="0"/>
              <a:t>= 100</a:t>
            </a:r>
            <a:r>
              <a:rPr lang="th-TH" sz="2000" dirty="0"/>
              <a:t>		 คิดเป็น </a:t>
            </a:r>
            <a:r>
              <a:rPr lang="en-US" sz="2000" dirty="0"/>
              <a:t>100% </a:t>
            </a:r>
            <a:r>
              <a:rPr lang="th-TH" sz="2000" dirty="0"/>
              <a:t>ของ </a:t>
            </a:r>
            <a:r>
              <a:rPr lang="en-US" sz="2000" dirty="0"/>
              <a:t>Ref</a:t>
            </a:r>
          </a:p>
          <a:p>
            <a:r>
              <a:rPr lang="en-US" sz="2000" dirty="0"/>
              <a:t>PLO2: </a:t>
            </a:r>
            <a:r>
              <a:rPr lang="en-US" sz="2000" dirty="0">
                <a:solidFill>
                  <a:srgbClr val="0070C0"/>
                </a:solidFill>
              </a:rPr>
              <a:t>100 x 1.0 </a:t>
            </a:r>
            <a:r>
              <a:rPr lang="en-US" sz="2000" dirty="0"/>
              <a:t>= 100</a:t>
            </a:r>
            <a:r>
              <a:rPr lang="th-TH" sz="2000" dirty="0"/>
              <a:t>		 คิดเป็น</a:t>
            </a:r>
            <a:r>
              <a:rPr lang="en-US" sz="2000" dirty="0"/>
              <a:t> 100% </a:t>
            </a:r>
            <a:r>
              <a:rPr lang="th-TH" sz="2000" dirty="0"/>
              <a:t>ของ </a:t>
            </a:r>
            <a:r>
              <a:rPr lang="en-US" sz="2000" dirty="0"/>
              <a:t>Ref</a:t>
            </a:r>
          </a:p>
          <a:p>
            <a:r>
              <a:rPr lang="en-US" sz="2000" dirty="0"/>
              <a:t>PLO3: </a:t>
            </a:r>
            <a:r>
              <a:rPr lang="en-US" sz="2000" dirty="0">
                <a:solidFill>
                  <a:srgbClr val="0070C0"/>
                </a:solidFill>
              </a:rPr>
              <a:t>50 x 1.0 </a:t>
            </a:r>
            <a:r>
              <a:rPr lang="en-US" sz="2000" dirty="0"/>
              <a:t>= 50</a:t>
            </a:r>
            <a:r>
              <a:rPr lang="th-TH" sz="2000" dirty="0"/>
              <a:t>		 คิดเป็น</a:t>
            </a:r>
            <a:r>
              <a:rPr lang="en-US" sz="2000" dirty="0"/>
              <a:t> 100% </a:t>
            </a:r>
            <a:r>
              <a:rPr lang="th-TH" sz="2000" dirty="0"/>
              <a:t>ของ </a:t>
            </a:r>
            <a:r>
              <a:rPr lang="en-US" sz="2000" dirty="0"/>
              <a:t>Ref</a:t>
            </a:r>
          </a:p>
          <a:p>
            <a:r>
              <a:rPr lang="en-US" sz="2000" dirty="0"/>
              <a:t>PLO4: </a:t>
            </a:r>
            <a:r>
              <a:rPr lang="en-US" sz="2000" dirty="0">
                <a:solidFill>
                  <a:srgbClr val="0070C0"/>
                </a:solidFill>
              </a:rPr>
              <a:t>50 x 1.0 </a:t>
            </a:r>
            <a:r>
              <a:rPr lang="en-US" sz="2000" dirty="0"/>
              <a:t>+ </a:t>
            </a:r>
            <a:r>
              <a:rPr lang="en-US" sz="2000" dirty="0">
                <a:solidFill>
                  <a:srgbClr val="00B050"/>
                </a:solidFill>
              </a:rPr>
              <a:t>100 x0.75 </a:t>
            </a:r>
            <a:r>
              <a:rPr lang="en-US" sz="2000" dirty="0"/>
              <a:t>= 125</a:t>
            </a:r>
            <a:r>
              <a:rPr lang="th-TH" sz="2000" dirty="0"/>
              <a:t>	 คิดเป็น</a:t>
            </a:r>
            <a:r>
              <a:rPr lang="en-US" sz="2000" dirty="0"/>
              <a:t> 83.33% </a:t>
            </a:r>
            <a:r>
              <a:rPr lang="th-TH" sz="2000" dirty="0"/>
              <a:t>ของ </a:t>
            </a:r>
            <a:r>
              <a:rPr lang="en-US" sz="2000" dirty="0"/>
              <a:t>Ref</a:t>
            </a:r>
          </a:p>
          <a:p>
            <a:r>
              <a:rPr lang="en-US" sz="2000" dirty="0"/>
              <a:t>PLO5: </a:t>
            </a:r>
            <a:r>
              <a:rPr lang="en-US" sz="2000" dirty="0">
                <a:solidFill>
                  <a:srgbClr val="00B050"/>
                </a:solidFill>
              </a:rPr>
              <a:t>300 x 0.75 </a:t>
            </a:r>
            <a:r>
              <a:rPr lang="en-US" sz="2000" dirty="0"/>
              <a:t>= 225</a:t>
            </a:r>
            <a:r>
              <a:rPr lang="th-TH" sz="2000" dirty="0"/>
              <a:t>		 คิดเป็น</a:t>
            </a:r>
            <a:r>
              <a:rPr lang="en-US" sz="2000" dirty="0"/>
              <a:t> 75% </a:t>
            </a:r>
            <a:r>
              <a:rPr lang="th-TH" sz="2000" dirty="0"/>
              <a:t>ของ </a:t>
            </a:r>
            <a:r>
              <a:rPr lang="en-US" sz="2000" dirty="0"/>
              <a:t>Ref</a:t>
            </a:r>
          </a:p>
          <a:p>
            <a:r>
              <a:rPr lang="th-TH" sz="2000" b="1" u="sng" dirty="0"/>
              <a:t>คะแนนนิสิต 2</a:t>
            </a:r>
          </a:p>
          <a:p>
            <a:r>
              <a:rPr lang="th-TH" sz="2000" dirty="0"/>
              <a:t>ได้ </a:t>
            </a:r>
            <a:r>
              <a:rPr lang="en-US" sz="2000" dirty="0"/>
              <a:t>A </a:t>
            </a:r>
            <a:r>
              <a:rPr lang="th-TH" sz="2000" dirty="0"/>
              <a:t>วิชา </a:t>
            </a:r>
            <a:r>
              <a:rPr lang="en-US" sz="2000" dirty="0"/>
              <a:t>Ref </a:t>
            </a:r>
            <a:r>
              <a:rPr lang="th-TH" sz="2000" dirty="0"/>
              <a:t>ทั้ง 2 วิชา จึงได้ </a:t>
            </a:r>
            <a:r>
              <a:rPr lang="en-US" sz="2000" dirty="0"/>
              <a:t>100% </a:t>
            </a:r>
            <a:r>
              <a:rPr lang="th-TH" sz="2000" dirty="0"/>
              <a:t>ใน</a:t>
            </a:r>
            <a:r>
              <a:rPr lang="en-US" sz="2000" dirty="0"/>
              <a:t> PLO 1 2 4 </a:t>
            </a:r>
            <a:r>
              <a:rPr lang="th-TH" sz="2000" dirty="0"/>
              <a:t>และ </a:t>
            </a:r>
            <a:r>
              <a:rPr lang="en-US" sz="2000" dirty="0"/>
              <a:t>5</a:t>
            </a:r>
          </a:p>
          <a:p>
            <a:r>
              <a:rPr lang="th-TH" sz="2000" dirty="0"/>
              <a:t>แต่ได้เรียนวิชา 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C03</a:t>
            </a:r>
            <a:r>
              <a:rPr lang="en-US" sz="2000" dirty="0"/>
              <a:t> </a:t>
            </a:r>
            <a:r>
              <a:rPr lang="th-TH" sz="2000" dirty="0"/>
              <a:t>เกินขึ้นมา ซึ่งจาก </a:t>
            </a:r>
            <a:r>
              <a:rPr lang="en-US" sz="2000" dirty="0"/>
              <a:t>mapping </a:t>
            </a:r>
            <a:r>
              <a:rPr lang="th-TH" sz="2000" dirty="0"/>
              <a:t>มีแค่ </a:t>
            </a:r>
            <a:r>
              <a:rPr lang="en-US" sz="2000" dirty="0"/>
              <a:t>PLO3</a:t>
            </a:r>
            <a:endParaRPr lang="th-TH" sz="2000" dirty="0"/>
          </a:p>
          <a:p>
            <a:r>
              <a:rPr lang="en-US" sz="2000" dirty="0"/>
              <a:t>PLO3: </a:t>
            </a:r>
            <a:r>
              <a:rPr lang="en-US" sz="2000" dirty="0">
                <a:solidFill>
                  <a:srgbClr val="0070C0"/>
                </a:solidFill>
              </a:rPr>
              <a:t>50 x 1.0 </a:t>
            </a:r>
            <a:r>
              <a:rPr lang="en-US" sz="2000" dirty="0"/>
              <a:t>+ 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200 x 0.5 </a:t>
            </a:r>
            <a:r>
              <a:rPr lang="en-US" sz="2000" dirty="0"/>
              <a:t>= 150	</a:t>
            </a:r>
            <a:r>
              <a:rPr lang="th-TH" sz="2000" dirty="0"/>
              <a:t>คิดเป็น </a:t>
            </a:r>
            <a:r>
              <a:rPr lang="en-US" sz="2000" dirty="0"/>
              <a:t>300% </a:t>
            </a:r>
            <a:r>
              <a:rPr lang="th-TH" sz="2000" dirty="0"/>
              <a:t>ของ </a:t>
            </a:r>
            <a:r>
              <a:rPr lang="en-US" sz="2000" dirty="0"/>
              <a:t>Ref</a:t>
            </a:r>
            <a:endParaRPr lang="th-TH" sz="2000" dirty="0"/>
          </a:p>
          <a:p>
            <a:r>
              <a:rPr lang="th-TH" sz="2000" dirty="0"/>
              <a:t>คะแนน </a:t>
            </a:r>
            <a:r>
              <a:rPr lang="en-US" sz="2000" dirty="0"/>
              <a:t>PLO3 </a:t>
            </a:r>
            <a:r>
              <a:rPr lang="th-TH" sz="2000" dirty="0"/>
              <a:t>จึงทะลุเกณฑ์ในการวัดผล</a:t>
            </a:r>
            <a:endParaRPr lang="en-US" sz="2000" dirty="0"/>
          </a:p>
        </p:txBody>
      </p:sp>
      <p:sp>
        <p:nvSpPr>
          <p:cNvPr id="8" name="Arrow: Bent 7">
            <a:extLst>
              <a:ext uri="{FF2B5EF4-FFF2-40B4-BE49-F238E27FC236}">
                <a16:creationId xmlns:a16="http://schemas.microsoft.com/office/drawing/2014/main" id="{74810EF2-9FF7-8000-4A7B-B87A5C7F3AC2}"/>
              </a:ext>
            </a:extLst>
          </p:cNvPr>
          <p:cNvSpPr/>
          <p:nvPr/>
        </p:nvSpPr>
        <p:spPr>
          <a:xfrm rot="5400000">
            <a:off x="9036646" y="2041366"/>
            <a:ext cx="1771376" cy="1347019"/>
          </a:xfrm>
          <a:prstGeom prst="bentArrow">
            <a:avLst>
              <a:gd name="adj1" fmla="val 29132"/>
              <a:gd name="adj2" fmla="val 25000"/>
              <a:gd name="adj3" fmla="val 25000"/>
              <a:gd name="adj4" fmla="val 4375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804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315</Words>
  <Application>Microsoft Office PowerPoint</Application>
  <PresentationFormat>Widescreen</PresentationFormat>
  <Paragraphs>66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การคำนวณวัดผล PLO นิสิต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warong suksavate</dc:creator>
  <cp:lastModifiedBy>warong suksavate</cp:lastModifiedBy>
  <cp:revision>1</cp:revision>
  <dcterms:created xsi:type="dcterms:W3CDTF">2024-09-26T09:10:06Z</dcterms:created>
  <dcterms:modified xsi:type="dcterms:W3CDTF">2024-09-26T15:08:03Z</dcterms:modified>
</cp:coreProperties>
</file>